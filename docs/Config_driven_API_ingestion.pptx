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verview" id="{2017dd96-318b-3a61-e894-cd536320795a}">
          <p14:sldIdLst>
            <p14:sldId id="256"/>
          </p14:sldIdLst>
        </p14:section>
        <p14:section name="Design" id="{225c373f-2ac6-717a-d1a8-91aad4ac251e}">
          <p14:sldIdLst>
            <p14:sldId id="257"/>
          </p14:sldIdLst>
        </p14:section>
        <p14:section name="Evidence" id="{e018aab8-35a2-bc9b-63ba-bd26620e7eca}">
          <p14:sldIdLst>
            <p14:sldId id="258"/>
          </p14:sldIdLst>
        </p14:section>
        <p14:section name="Production" id="{fc6951e7-f7c6-00f6-a126-cc4c1fbd7d31}">
          <p14:sldIdLst>
            <p14:sldId id="25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Built a small but production-shaped pipeline. The weather source is one YAML file, and a second API (USGS earthquakes) was added with configuration only, to prove the framework.
Stack: Databricks Free Edition, Unity Catalog, Asset Bundles, Python + PySpark + Delta + SQL.
Bronze is the system of record and can be replayed with replay_run_id. Each city is processed independently, so one failure doesn't stop the others.
Partitioning: raw by ingestion_date, silver by weather date, run_log_dtl by start_date. Date partitions use Delta generated columns. met_audit holds run_log, run_log_dtl and schema_change_log.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Silver MERGE updates only changed values, so a rerun gives 0 duplicates and forecast revisions update in place; an older pull never overwrites a newer one.
Schema drift: NEW_FIELD is logged and kept in bronze; MISSING_FIELD / UNIT_CHANGE reject only that payload. No mergeSchema. Other reason codes include INVALID_TEMPERATURE_TYPE; whole-payload rejects are PAYLOAD rows.
Audit counts come from the MERGE result itself, never from rows submitted. Example: a same-window rerun reported 0 inserted and 39 updated, all Tokyo hours that Open-Meteo had revised in the 6.5 minutes between pulls.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Faults are injected at the HTTP boundary for one target city, so the pipeline runs the same code as production. Demo runs go to *_edge schemas so test data never pollutes real tables. The HTTP 400 came from a real bad latitude; a same-window rerun was also demonstrated.
206 tests = unit + onboarding contract + dashboard structure. Weather run: 360 silver rows / 15 gold rows; rerun: 0 inserted. USGS: 151 events across paginated pages. Reconciliation: source = valid + rejected, 0 differences.
Dashboards: Meteorological (hourly temperature, daily precipitation and wind, city comparison, demo alert days, last updated, earthquakes page). Pipeline monitoring in 9 sections: execution, performance, ingestion, data quality, SLA, freshness, infrastructure (DBUs), errors, reconciliation. Data governance: UC inventory and tags, column documentation coverage, lineage, access audit, query activity, source registry, data-contract health, platform usage.
SLA targets live in framework.yml: a run within 300 s, a successful load per entity within 24 h. On serverless, CPU and memory aren't exposed, so infrastructure is tracked as DBUs from system.billing.usage.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Scheduling: one Databricks Job per source, or a for_each task; cron schedule currently paused. Environments: dev / test / prod bundle targets, separate catalog each; fault injection only outside prod. Deployment: Databricks Asset Bundle (bundle validate / deploy / run); CI runs pytest + bundle validate first. Governance: writer service principal, analysts read gold, tags, lineage, secrets in a secret scope. Alerting: SQL alerts on FAILED / PARTIAL_SUCCESS, SLA breach, staleness, rejection spikes. Scaling: bounded concurrency + rate limits per source, Spark-side parsing, staging table before MERGE, Auto Loader over the landing volume. Testing: unit + onboarding contract tests, local Spark/Delta smoke test, in-job validation task.
Onboarding a new API needs no Python. The onboarding test picks up every source YAML automatically and runs it end to end on its saved responses. File/DB extractors plug into the same interface.
AI: Claude Code (Claude Opus 5.5) in VS Code. Prompt that worked: 'also add boiler plate coding, which allow to onboard new API based pipeline by configuration only' — produced the config-driven framework, with design choices confirmed first.
How each defect was caught: wrong-city fault injector seen when the local Spark run showed Singapore failing; YAML ints rejected by Spark for DOUBLE columns, so I added a type-conformance test; dashboards failed (nested ROUND(SUM()), wrong grid width), spotted in the UI, so I added a validator; gold had no created_run_id (UPDATE SET *), I asked why, fixed and backfilled.
The full log is in docs/ai_use_log.md. All entries are real, with how each was detected and corrected.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ONLY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" name="Text 0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bg2"/>
                </a:solidFill>
              </a:rPr>
              <a:t>Config-driven API ingestion on Databricks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Config-driven API ingestion on Databricks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1"/>
                </a:solidFill>
              </a:rPr>
              <a:t>Open-Meteo weather → Delta raw / silver / gold, with audit, data quality and dashboards</a:t>
            </a:r>
            <a:endParaRPr lang="en-US" sz="1400" dirty="0"/>
          </a:p>
        </p:txBody>
      </p:sp>
      <p:sp>
        <p:nvSpPr>
          <p:cNvPr id="4" name="Flow box 1"/>
          <p:cNvSpPr/>
          <p:nvPr/>
        </p:nvSpPr>
        <p:spPr>
          <a:xfrm>
            <a:off x="457200" y="1371600"/>
            <a:ext cx="1005840" cy="960120"/>
          </a:xfrm>
          <a:prstGeom prst="roundRect">
            <a:avLst>
              <a:gd name="adj" fmla="val 7619"/>
            </a:avLst>
          </a:prstGeom>
          <a:solidFill>
            <a:schemeClr val="tx2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5" name="Flow text 1"/>
          <p:cNvSpPr txBox="1"/>
          <p:nvPr/>
        </p:nvSpPr>
        <p:spPr>
          <a:xfrm>
            <a:off x="502920" y="1417320"/>
            <a:ext cx="914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sources/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&lt;name&gt;.yml</a:t>
            </a:r>
            <a:endParaRPr lang="en-US" sz="11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one YAML per source</a:t>
            </a:r>
            <a:endParaRPr lang="en-US" sz="1100" dirty="0"/>
          </a:p>
        </p:txBody>
      </p:sp>
      <p:sp>
        <p:nvSpPr>
          <p:cNvPr id="6" name="Flow arrow 1"/>
          <p:cNvSpPr/>
          <p:nvPr/>
        </p:nvSpPr>
        <p:spPr>
          <a:xfrm>
            <a:off x="1490472" y="1851660"/>
            <a:ext cx="128016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7" name="Flow box 2"/>
          <p:cNvSpPr/>
          <p:nvPr/>
        </p:nvSpPr>
        <p:spPr>
          <a:xfrm>
            <a:off x="1645920" y="1371600"/>
            <a:ext cx="1005840" cy="960120"/>
          </a:xfrm>
          <a:prstGeom prst="roundRect">
            <a:avLst>
              <a:gd name="adj" fmla="val 7619"/>
            </a:avLst>
          </a:prstGeom>
          <a:solidFill>
            <a:schemeClr val="tx2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8" name="Flow text 2"/>
          <p:cNvSpPr txBox="1"/>
          <p:nvPr/>
        </p:nvSpPr>
        <p:spPr>
          <a:xfrm>
            <a:off x="1691640" y="1417320"/>
            <a:ext cx="914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Extractor</a:t>
            </a:r>
            <a:endParaRPr lang="en-US" sz="11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API now; File/DB pluggable</a:t>
            </a:r>
            <a:endParaRPr lang="en-US" sz="1100" dirty="0"/>
          </a:p>
        </p:txBody>
      </p:sp>
      <p:sp>
        <p:nvSpPr>
          <p:cNvPr id="9" name="Flow arrow 2"/>
          <p:cNvSpPr/>
          <p:nvPr/>
        </p:nvSpPr>
        <p:spPr>
          <a:xfrm>
            <a:off x="2679192" y="1851660"/>
            <a:ext cx="128016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0" name="Flow box 3"/>
          <p:cNvSpPr/>
          <p:nvPr/>
        </p:nvSpPr>
        <p:spPr>
          <a:xfrm>
            <a:off x="2834640" y="1371600"/>
            <a:ext cx="1005840" cy="960120"/>
          </a:xfrm>
          <a:prstGeom prst="roundRect">
            <a:avLst>
              <a:gd name="adj" fmla="val 7619"/>
            </a:avLst>
          </a:prstGeom>
          <a:solidFill>
            <a:schemeClr val="tx2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11" name="Flow text 3"/>
          <p:cNvSpPr txBox="1"/>
          <p:nvPr/>
        </p:nvSpPr>
        <p:spPr>
          <a:xfrm>
            <a:off x="2880360" y="1417320"/>
            <a:ext cx="914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Landing + met_raw</a:t>
            </a:r>
            <a:endParaRPr lang="en-US" sz="11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raw JSON files + bronze table</a:t>
            </a:r>
            <a:endParaRPr lang="en-US" sz="1100" dirty="0"/>
          </a:p>
        </p:txBody>
      </p:sp>
      <p:sp>
        <p:nvSpPr>
          <p:cNvPr id="12" name="Flow arrow 3"/>
          <p:cNvSpPr/>
          <p:nvPr/>
        </p:nvSpPr>
        <p:spPr>
          <a:xfrm>
            <a:off x="3867912" y="1851660"/>
            <a:ext cx="128016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3" name="Flow box 4"/>
          <p:cNvSpPr/>
          <p:nvPr/>
        </p:nvSpPr>
        <p:spPr>
          <a:xfrm>
            <a:off x="4023360" y="1371600"/>
            <a:ext cx="1005840" cy="960120"/>
          </a:xfrm>
          <a:prstGeom prst="roundRect">
            <a:avLst>
              <a:gd name="adj" fmla="val 7619"/>
            </a:avLst>
          </a:prstGeom>
          <a:solidFill>
            <a:schemeClr val="tx2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14" name="Flow text 4"/>
          <p:cNvSpPr txBox="1"/>
          <p:nvPr/>
        </p:nvSpPr>
        <p:spPr>
          <a:xfrm>
            <a:off x="4069080" y="1417320"/>
            <a:ext cx="914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Validate</a:t>
            </a:r>
            <a:endParaRPr lang="en-US" sz="11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contract · casts · DQ rules</a:t>
            </a:r>
            <a:endParaRPr lang="en-US" sz="1100" dirty="0"/>
          </a:p>
        </p:txBody>
      </p:sp>
      <p:sp>
        <p:nvSpPr>
          <p:cNvPr id="15" name="Flow arrow 4"/>
          <p:cNvSpPr/>
          <p:nvPr/>
        </p:nvSpPr>
        <p:spPr>
          <a:xfrm>
            <a:off x="5056632" y="1851660"/>
            <a:ext cx="128016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6" name="Flow box 5"/>
          <p:cNvSpPr/>
          <p:nvPr/>
        </p:nvSpPr>
        <p:spPr>
          <a:xfrm>
            <a:off x="5212080" y="1371600"/>
            <a:ext cx="1005840" cy="960120"/>
          </a:xfrm>
          <a:prstGeom prst="roundRect">
            <a:avLst>
              <a:gd name="adj" fmla="val 7619"/>
            </a:avLst>
          </a:prstGeom>
          <a:solidFill>
            <a:schemeClr val="accent2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17" name="Flow text 5"/>
          <p:cNvSpPr txBox="1"/>
          <p:nvPr/>
        </p:nvSpPr>
        <p:spPr>
          <a:xfrm>
            <a:off x="5257800" y="1417320"/>
            <a:ext cx="914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met_silver</a:t>
            </a:r>
            <a:endParaRPr lang="en-US" sz="11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MERGE on business key</a:t>
            </a:r>
            <a:endParaRPr lang="en-US" sz="1100" dirty="0"/>
          </a:p>
        </p:txBody>
      </p:sp>
      <p:sp>
        <p:nvSpPr>
          <p:cNvPr id="18" name="Flow arrow 5"/>
          <p:cNvSpPr/>
          <p:nvPr/>
        </p:nvSpPr>
        <p:spPr>
          <a:xfrm>
            <a:off x="6245352" y="1851660"/>
            <a:ext cx="128016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9" name="Flow box 6"/>
          <p:cNvSpPr/>
          <p:nvPr/>
        </p:nvSpPr>
        <p:spPr>
          <a:xfrm>
            <a:off x="6400800" y="1371600"/>
            <a:ext cx="1005840" cy="960120"/>
          </a:xfrm>
          <a:prstGeom prst="roundRect">
            <a:avLst>
              <a:gd name="adj" fmla="val 7619"/>
            </a:avLst>
          </a:prstGeom>
          <a:solidFill>
            <a:schemeClr val="accent2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20" name="Flow text 6"/>
          <p:cNvSpPr txBox="1"/>
          <p:nvPr/>
        </p:nvSpPr>
        <p:spPr>
          <a:xfrm>
            <a:off x="6446520" y="1417320"/>
            <a:ext cx="914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met_gold</a:t>
            </a:r>
            <a:endParaRPr lang="en-US" sz="11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MERGE of affected keys</a:t>
            </a:r>
            <a:endParaRPr lang="en-US" sz="1100" dirty="0"/>
          </a:p>
        </p:txBody>
      </p:sp>
      <p:sp>
        <p:nvSpPr>
          <p:cNvPr id="21" name="Flow arrow 6"/>
          <p:cNvSpPr/>
          <p:nvPr/>
        </p:nvSpPr>
        <p:spPr>
          <a:xfrm>
            <a:off x="7434072" y="1851660"/>
            <a:ext cx="128016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2" name="Flow box 7"/>
          <p:cNvSpPr/>
          <p:nvPr/>
        </p:nvSpPr>
        <p:spPr>
          <a:xfrm>
            <a:off x="7589520" y="1371600"/>
            <a:ext cx="1005840" cy="960120"/>
          </a:xfrm>
          <a:prstGeom prst="roundRect">
            <a:avLst>
              <a:gd name="adj" fmla="val 7619"/>
            </a:avLst>
          </a:prstGeom>
          <a:solidFill>
            <a:schemeClr val="tx2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23" name="Flow text 7"/>
          <p:cNvSpPr txBox="1"/>
          <p:nvPr/>
        </p:nvSpPr>
        <p:spPr>
          <a:xfrm>
            <a:off x="7635240" y="1417320"/>
            <a:ext cx="914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3 AI/BI dashboards</a:t>
            </a:r>
            <a:endParaRPr lang="en-US" sz="11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refreshed every run</a:t>
            </a:r>
            <a:endParaRPr lang="en-US" sz="1100" dirty="0"/>
          </a:p>
        </p:txBody>
      </p:sp>
      <p:sp>
        <p:nvSpPr>
          <p:cNvPr id="24" name="Quarantine arrow"/>
          <p:cNvSpPr/>
          <p:nvPr/>
        </p:nvSpPr>
        <p:spPr>
          <a:xfrm>
            <a:off x="4526280" y="2359152"/>
            <a:ext cx="0" cy="246888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5" name="Quarantine box"/>
          <p:cNvSpPr/>
          <p:nvPr/>
        </p:nvSpPr>
        <p:spPr>
          <a:xfrm>
            <a:off x="3337560" y="2633472"/>
            <a:ext cx="2377440" cy="457200"/>
          </a:xfrm>
          <a:prstGeom prst="roundRect">
            <a:avLst>
              <a:gd name="adj" fmla="val 16000"/>
            </a:avLst>
          </a:prstGeom>
          <a:solidFill>
            <a:schemeClr val="tx2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26" name="Quarantine text"/>
          <p:cNvSpPr txBox="1"/>
          <p:nvPr/>
        </p:nvSpPr>
        <p:spPr>
          <a:xfrm>
            <a:off x="3383280" y="263347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met_quarantine  </a:t>
            </a:r>
            <a:pPr algn="ctr"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rejected rows / payloads</a:t>
            </a:r>
            <a:endParaRPr lang="en-US" sz="1100" dirty="0"/>
          </a:p>
        </p:txBody>
      </p:sp>
      <p:sp>
        <p:nvSpPr>
          <p:cNvPr id="27" name="Fact card 1"/>
          <p:cNvSpPr/>
          <p:nvPr/>
        </p:nvSpPr>
        <p:spPr>
          <a:xfrm>
            <a:off x="457200" y="3383280"/>
            <a:ext cx="1920240" cy="1051560"/>
          </a:xfrm>
          <a:prstGeom prst="roundRect">
            <a:avLst>
              <a:gd name="adj" fmla="val 6957"/>
            </a:avLst>
          </a:prstGeom>
          <a:solidFill>
            <a:schemeClr val="tx2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28" name="Fact text 1"/>
          <p:cNvSpPr txBox="1"/>
          <p:nvPr/>
        </p:nvSpPr>
        <p:spPr>
          <a:xfrm>
            <a:off x="566928" y="3474720"/>
            <a:ext cx="170078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chemeClr val="accent1"/>
                </a:solidFill>
              </a:rPr>
              <a:t>5 layer schemas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chemeClr val="bg1"/>
                </a:solidFill>
              </a:rPr>
              <a:t>met_raw · met_silver · met_gold · met_audit · met_quarantine</a:t>
            </a:r>
            <a:endParaRPr lang="en-US" sz="1300" dirty="0"/>
          </a:p>
        </p:txBody>
      </p:sp>
      <p:sp>
        <p:nvSpPr>
          <p:cNvPr id="29" name="Fact card 2"/>
          <p:cNvSpPr/>
          <p:nvPr/>
        </p:nvSpPr>
        <p:spPr>
          <a:xfrm>
            <a:off x="2560320" y="3383280"/>
            <a:ext cx="1920240" cy="1051560"/>
          </a:xfrm>
          <a:prstGeom prst="roundRect">
            <a:avLst>
              <a:gd name="adj" fmla="val 6957"/>
            </a:avLst>
          </a:prstGeom>
          <a:solidFill>
            <a:schemeClr val="tx2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30" name="Fact text 2"/>
          <p:cNvSpPr txBox="1"/>
          <p:nvPr/>
        </p:nvSpPr>
        <p:spPr>
          <a:xfrm>
            <a:off x="2670048" y="3474720"/>
            <a:ext cx="170078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chemeClr val="accent1"/>
                </a:solidFill>
              </a:rPr>
              <a:t>Raw data kept twice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chemeClr val="bg1"/>
                </a:solidFill>
              </a:rPr>
              <a:t>Landing file + bronze row, linked by raw_file_path</a:t>
            </a:r>
            <a:endParaRPr lang="en-US" sz="1300" dirty="0"/>
          </a:p>
        </p:txBody>
      </p:sp>
      <p:sp>
        <p:nvSpPr>
          <p:cNvPr id="31" name="Fact card 3"/>
          <p:cNvSpPr/>
          <p:nvPr/>
        </p:nvSpPr>
        <p:spPr>
          <a:xfrm>
            <a:off x="4663440" y="3383280"/>
            <a:ext cx="1920240" cy="1051560"/>
          </a:xfrm>
          <a:prstGeom prst="roundRect">
            <a:avLst>
              <a:gd name="adj" fmla="val 6957"/>
            </a:avLst>
          </a:prstGeom>
          <a:solidFill>
            <a:schemeClr val="tx2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32" name="Fact text 3"/>
          <p:cNvSpPr txBox="1"/>
          <p:nvPr/>
        </p:nvSpPr>
        <p:spPr>
          <a:xfrm>
            <a:off x="4773168" y="3474720"/>
            <a:ext cx="170078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chemeClr val="accent1"/>
                </a:solidFill>
              </a:rPr>
              <a:t>One serverless job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chemeClr val="bg1"/>
                </a:solidFill>
              </a:rPr>
              <a:t>setup → run → validation → dashboard refresh</a:t>
            </a:r>
            <a:endParaRPr lang="en-US" sz="1300" dirty="0"/>
          </a:p>
        </p:txBody>
      </p:sp>
      <p:sp>
        <p:nvSpPr>
          <p:cNvPr id="33" name="Fact card 4"/>
          <p:cNvSpPr/>
          <p:nvPr/>
        </p:nvSpPr>
        <p:spPr>
          <a:xfrm>
            <a:off x="6766560" y="3383280"/>
            <a:ext cx="1920240" cy="1051560"/>
          </a:xfrm>
          <a:prstGeom prst="roundRect">
            <a:avLst>
              <a:gd name="adj" fmla="val 6957"/>
            </a:avLst>
          </a:prstGeom>
          <a:solidFill>
            <a:schemeClr val="tx2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34" name="Fact text 4"/>
          <p:cNvSpPr txBox="1"/>
          <p:nvPr/>
        </p:nvSpPr>
        <p:spPr>
          <a:xfrm>
            <a:off x="6876288" y="3474720"/>
            <a:ext cx="170078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chemeClr val="accent1"/>
                </a:solidFill>
              </a:rPr>
              <a:t>Cross-cutting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chemeClr val="bg1"/>
                </a:solidFill>
              </a:rPr>
              <a:t>met_audit logs, governance tags, fault injection (off by default)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design decisions</a:t>
            </a:r>
            <a:endParaRPr lang="en-US" sz="2800" dirty="0"/>
          </a:p>
        </p:txBody>
      </p:sp>
      <p:graphicFrame>
        <p:nvGraphicFramePr>
          <p:cNvPr id="3" name="Decision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822960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512064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Silver MERGE on (location_id, timestamp_utc)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Reruns add 0 duplicates; revisions update in place; older pulls never overwrite newer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Gold: recompute affected days, then MERGE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partially failed run never deletes another city's gold rows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Explicit contract + schema-drift log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fields logged, kept in bronze; missing field or unit change rejects only that payload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Quarantine with reason codes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Never silent drops, e.g. HUMIDITY_ABOVE_100, ARRAY_LENGTH_MISMATCH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Bounded retries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attempts, capped backoff + jitter, honours Retry-After; 400 not retried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Lineage columns in silver and gold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created_run_id / last_updated_run_id trace every row to its run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Reliability, data quality and evidence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Edge cases demonstrated</a:t>
            </a:r>
            <a:endParaRPr lang="en-US" sz="1400" dirty="0"/>
          </a:p>
        </p:txBody>
      </p:sp>
      <p:sp>
        <p:nvSpPr>
          <p:cNvPr id="4" name="Edge API circle"/>
          <p:cNvSpPr/>
          <p:nvPr/>
        </p:nvSpPr>
        <p:spPr>
          <a:xfrm>
            <a:off x="457200" y="1298448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Edge API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3212" y="1394460"/>
            <a:ext cx="192024" cy="192024"/>
          </a:xfrm>
          <a:prstGeom prst="rect">
            <a:avLst/>
          </a:prstGeom>
        </p:spPr>
      </p:pic>
      <p:sp>
        <p:nvSpPr>
          <p:cNvPr id="6" name="Edge text API"/>
          <p:cNvSpPr txBox="1"/>
          <p:nvPr/>
        </p:nvSpPr>
        <p:spPr>
          <a:xfrm>
            <a:off x="960120" y="1261872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API  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timeout, 429, 5xx, real HTTP 400</a:t>
            </a:r>
            <a:endParaRPr lang="en-US" sz="1200" dirty="0"/>
          </a:p>
        </p:txBody>
      </p:sp>
      <p:sp>
        <p:nvSpPr>
          <p:cNvPr id="7" name="Edge Payload circle"/>
          <p:cNvSpPr/>
          <p:nvPr/>
        </p:nvSpPr>
        <p:spPr>
          <a:xfrm>
            <a:off x="457200" y="1847088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8" name="Edge Payload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212" y="1943100"/>
            <a:ext cx="192024" cy="192024"/>
          </a:xfrm>
          <a:prstGeom prst="rect">
            <a:avLst/>
          </a:prstGeom>
        </p:spPr>
      </p:pic>
      <p:sp>
        <p:nvSpPr>
          <p:cNvPr id="9" name="Edge text Payload"/>
          <p:cNvSpPr txBox="1"/>
          <p:nvPr/>
        </p:nvSpPr>
        <p:spPr>
          <a:xfrm>
            <a:off x="960120" y="1810512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Payload  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empty, truncated JSON, unequal arrays, nulls</a:t>
            </a:r>
            <a:endParaRPr lang="en-US" sz="1200" dirty="0"/>
          </a:p>
        </p:txBody>
      </p:sp>
      <p:sp>
        <p:nvSpPr>
          <p:cNvPr id="10" name="Edge Values circle"/>
          <p:cNvSpPr/>
          <p:nvPr/>
        </p:nvSpPr>
        <p:spPr>
          <a:xfrm>
            <a:off x="457200" y="2395728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Edge Values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212" y="2491740"/>
            <a:ext cx="192024" cy="192024"/>
          </a:xfrm>
          <a:prstGeom prst="rect">
            <a:avLst/>
          </a:prstGeom>
        </p:spPr>
      </p:pic>
      <p:sp>
        <p:nvSpPr>
          <p:cNvPr id="12" name="Edge text Values"/>
          <p:cNvSpPr txBox="1"/>
          <p:nvPr/>
        </p:nvSpPr>
        <p:spPr>
          <a:xfrm>
            <a:off x="960120" y="2359152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Values  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humidity 130, "ABC" temperature, bad timestamps</a:t>
            </a:r>
            <a:endParaRPr lang="en-US" sz="1200" dirty="0"/>
          </a:p>
        </p:txBody>
      </p:sp>
      <p:sp>
        <p:nvSpPr>
          <p:cNvPr id="13" name="Edge Schema circle"/>
          <p:cNvSpPr/>
          <p:nvPr/>
        </p:nvSpPr>
        <p:spPr>
          <a:xfrm>
            <a:off x="457200" y="2944368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4" name="Edge Schema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212" y="3040380"/>
            <a:ext cx="192024" cy="192024"/>
          </a:xfrm>
          <a:prstGeom prst="rect">
            <a:avLst/>
          </a:prstGeom>
        </p:spPr>
      </p:pic>
      <p:sp>
        <p:nvSpPr>
          <p:cNvPr id="15" name="Edge text Schema"/>
          <p:cNvSpPr txBox="1"/>
          <p:nvPr/>
        </p:nvSpPr>
        <p:spPr>
          <a:xfrm>
            <a:off x="960120" y="2907792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Schema  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new field, missing field, number as string</a:t>
            </a:r>
            <a:endParaRPr lang="en-US" sz="1200" dirty="0"/>
          </a:p>
        </p:txBody>
      </p:sp>
      <p:sp>
        <p:nvSpPr>
          <p:cNvPr id="16" name="Edge Partial circle"/>
          <p:cNvSpPr/>
          <p:nvPr/>
        </p:nvSpPr>
        <p:spPr>
          <a:xfrm>
            <a:off x="457200" y="3493008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7" name="Edge Partial 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3212" y="3589020"/>
            <a:ext cx="192024" cy="192024"/>
          </a:xfrm>
          <a:prstGeom prst="rect">
            <a:avLst/>
          </a:prstGeom>
        </p:spPr>
      </p:pic>
      <p:sp>
        <p:nvSpPr>
          <p:cNvPr id="18" name="Edge text Partial"/>
          <p:cNvSpPr txBox="1"/>
          <p:nvPr/>
        </p:nvSpPr>
        <p:spPr>
          <a:xfrm>
            <a:off x="960120" y="3456432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Partial  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one city fails, others load → PARTIAL_SUCCESS</a:t>
            </a:r>
            <a:endParaRPr lang="en-US" sz="1200" dirty="0"/>
          </a:p>
        </p:txBody>
      </p:sp>
      <p:sp>
        <p:nvSpPr>
          <p:cNvPr id="19" name="Text 12"/>
          <p:cNvSpPr txBox="1"/>
          <p:nvPr/>
        </p:nvSpPr>
        <p:spPr>
          <a:xfrm>
            <a:off x="4754880" y="9144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Verified results</a:t>
            </a:r>
            <a:endParaRPr lang="en-US" sz="1400" dirty="0"/>
          </a:p>
        </p:txBody>
      </p:sp>
      <p:sp>
        <p:nvSpPr>
          <p:cNvPr id="20" name="Stat card 1"/>
          <p:cNvSpPr/>
          <p:nvPr/>
        </p:nvSpPr>
        <p:spPr>
          <a:xfrm>
            <a:off x="4754880" y="1298448"/>
            <a:ext cx="1874520" cy="1280160"/>
          </a:xfrm>
          <a:prstGeom prst="roundRect">
            <a:avLst>
              <a:gd name="adj" fmla="val 5714"/>
            </a:avLst>
          </a:prstGeom>
          <a:solidFill>
            <a:schemeClr val="tx2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21" name="Stat value 1"/>
          <p:cNvSpPr txBox="1"/>
          <p:nvPr/>
        </p:nvSpPr>
        <p:spPr>
          <a:xfrm>
            <a:off x="4846320" y="1408176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206</a:t>
            </a:r>
            <a:endParaRPr lang="en-US" sz="3200" dirty="0"/>
          </a:p>
        </p:txBody>
      </p:sp>
      <p:sp>
        <p:nvSpPr>
          <p:cNvPr id="22" name="Stat label 1"/>
          <p:cNvSpPr txBox="1"/>
          <p:nvPr/>
        </p:nvSpPr>
        <p:spPr>
          <a:xfrm>
            <a:off x="4846320" y="2048256"/>
            <a:ext cx="1691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test cases passing (107 functions)</a:t>
            </a:r>
            <a:endParaRPr lang="en-US" sz="1100" dirty="0"/>
          </a:p>
        </p:txBody>
      </p:sp>
      <p:sp>
        <p:nvSpPr>
          <p:cNvPr id="23" name="Stat card 2"/>
          <p:cNvSpPr/>
          <p:nvPr/>
        </p:nvSpPr>
        <p:spPr>
          <a:xfrm>
            <a:off x="6812280" y="1298448"/>
            <a:ext cx="1874520" cy="1280160"/>
          </a:xfrm>
          <a:prstGeom prst="roundRect">
            <a:avLst>
              <a:gd name="adj" fmla="val 5714"/>
            </a:avLst>
          </a:prstGeom>
          <a:solidFill>
            <a:schemeClr val="tx2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24" name="Stat value 2"/>
          <p:cNvSpPr txBox="1"/>
          <p:nvPr/>
        </p:nvSpPr>
        <p:spPr>
          <a:xfrm>
            <a:off x="6903720" y="1408176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360 / 15</a:t>
            </a:r>
            <a:endParaRPr lang="en-US" sz="3200" dirty="0"/>
          </a:p>
        </p:txBody>
      </p:sp>
      <p:sp>
        <p:nvSpPr>
          <p:cNvPr id="25" name="Stat label 2"/>
          <p:cNvSpPr txBox="1"/>
          <p:nvPr/>
        </p:nvSpPr>
        <p:spPr>
          <a:xfrm>
            <a:off x="6903720" y="2048256"/>
            <a:ext cx="1691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silver / gold rows; rerun inserts 0</a:t>
            </a:r>
            <a:endParaRPr lang="en-US" sz="1100" dirty="0"/>
          </a:p>
        </p:txBody>
      </p:sp>
      <p:sp>
        <p:nvSpPr>
          <p:cNvPr id="26" name="Stat card 3"/>
          <p:cNvSpPr/>
          <p:nvPr/>
        </p:nvSpPr>
        <p:spPr>
          <a:xfrm>
            <a:off x="4754880" y="2761488"/>
            <a:ext cx="1874520" cy="1280160"/>
          </a:xfrm>
          <a:prstGeom prst="roundRect">
            <a:avLst>
              <a:gd name="adj" fmla="val 5714"/>
            </a:avLst>
          </a:prstGeom>
          <a:solidFill>
            <a:schemeClr val="tx2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27" name="Stat value 3"/>
          <p:cNvSpPr txBox="1"/>
          <p:nvPr/>
        </p:nvSpPr>
        <p:spPr>
          <a:xfrm>
            <a:off x="4846320" y="2871216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151</a:t>
            </a:r>
            <a:endParaRPr lang="en-US" sz="3200" dirty="0"/>
          </a:p>
        </p:txBody>
      </p:sp>
      <p:sp>
        <p:nvSpPr>
          <p:cNvPr id="28" name="Stat label 3"/>
          <p:cNvSpPr txBox="1"/>
          <p:nvPr/>
        </p:nvSpPr>
        <p:spPr>
          <a:xfrm>
            <a:off x="4846320" y="3511296"/>
            <a:ext cx="1691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USGS events, added by config only</a:t>
            </a:r>
            <a:endParaRPr lang="en-US" sz="1100" dirty="0"/>
          </a:p>
        </p:txBody>
      </p:sp>
      <p:sp>
        <p:nvSpPr>
          <p:cNvPr id="29" name="Stat card 4"/>
          <p:cNvSpPr/>
          <p:nvPr/>
        </p:nvSpPr>
        <p:spPr>
          <a:xfrm>
            <a:off x="6812280" y="2761488"/>
            <a:ext cx="1874520" cy="1280160"/>
          </a:xfrm>
          <a:prstGeom prst="roundRect">
            <a:avLst>
              <a:gd name="adj" fmla="val 5714"/>
            </a:avLst>
          </a:prstGeom>
          <a:solidFill>
            <a:schemeClr val="tx2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30" name="Stat value 4"/>
          <p:cNvSpPr txBox="1"/>
          <p:nvPr/>
        </p:nvSpPr>
        <p:spPr>
          <a:xfrm>
            <a:off x="6903720" y="2871216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3200" dirty="0"/>
          </a:p>
        </p:txBody>
      </p:sp>
      <p:sp>
        <p:nvSpPr>
          <p:cNvPr id="31" name="Stat label 4"/>
          <p:cNvSpPr txBox="1"/>
          <p:nvPr/>
        </p:nvSpPr>
        <p:spPr>
          <a:xfrm>
            <a:off x="6903720" y="3511296"/>
            <a:ext cx="1691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reconciliation differences</a:t>
            </a:r>
            <a:endParaRPr lang="en-US" sz="1100" dirty="0"/>
          </a:p>
        </p:txBody>
      </p:sp>
      <p:sp>
        <p:nvSpPr>
          <p:cNvPr id="32" name="Dashboards strip"/>
          <p:cNvSpPr/>
          <p:nvPr/>
        </p:nvSpPr>
        <p:spPr>
          <a:xfrm>
            <a:off x="457200" y="4160520"/>
            <a:ext cx="8229600" cy="457200"/>
          </a:xfrm>
          <a:prstGeom prst="roundRect">
            <a:avLst>
              <a:gd name="adj" fmla="val 16000"/>
            </a:avLst>
          </a:prstGeom>
          <a:solidFill>
            <a:schemeClr val="accent2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33" name="Dashboards text"/>
          <p:cNvSpPr txBox="1"/>
          <p:nvPr/>
        </p:nvSpPr>
        <p:spPr>
          <a:xfrm>
            <a:off x="594360" y="416052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3 dashboards:  </a:t>
            </a:r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Meteorological data · Pipeline monitoring (9 sections) · Data governance — generated from code, refreshed after every run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Path to production, and how I used AI</a:t>
            </a:r>
            <a:endParaRPr lang="en-US" sz="2800" dirty="0"/>
          </a:p>
        </p:txBody>
      </p:sp>
      <p:sp>
        <p:nvSpPr>
          <p:cNvPr id="3" name="Tile Scheduling"/>
          <p:cNvSpPr/>
          <p:nvPr/>
        </p:nvSpPr>
        <p:spPr>
          <a:xfrm>
            <a:off x="457200" y="914400"/>
            <a:ext cx="2606040" cy="749808"/>
          </a:xfrm>
          <a:prstGeom prst="roundRect">
            <a:avLst>
              <a:gd name="adj" fmla="val 9756"/>
            </a:avLst>
          </a:prstGeom>
          <a:solidFill>
            <a:schemeClr val="tx2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4" name="Tile Scheduling circle"/>
          <p:cNvSpPr/>
          <p:nvPr/>
        </p:nvSpPr>
        <p:spPr>
          <a:xfrm>
            <a:off x="566928" y="109728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Tile Scheduling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2940" y="1193292"/>
            <a:ext cx="192024" cy="192024"/>
          </a:xfrm>
          <a:prstGeom prst="rect">
            <a:avLst/>
          </a:prstGeom>
        </p:spPr>
      </p:pic>
      <p:sp>
        <p:nvSpPr>
          <p:cNvPr id="6" name="Tile text Scheduling"/>
          <p:cNvSpPr txBox="1"/>
          <p:nvPr/>
        </p:nvSpPr>
        <p:spPr>
          <a:xfrm>
            <a:off x="1051560" y="969264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Scheduling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Job per source or for_each; cron (paused)</a:t>
            </a:r>
            <a:endParaRPr lang="en-US" sz="1200" dirty="0"/>
          </a:p>
        </p:txBody>
      </p:sp>
      <p:sp>
        <p:nvSpPr>
          <p:cNvPr id="7" name="Tile Environments"/>
          <p:cNvSpPr/>
          <p:nvPr/>
        </p:nvSpPr>
        <p:spPr>
          <a:xfrm>
            <a:off x="3200400" y="914400"/>
            <a:ext cx="2606040" cy="749808"/>
          </a:xfrm>
          <a:prstGeom prst="roundRect">
            <a:avLst>
              <a:gd name="adj" fmla="val 9756"/>
            </a:avLst>
          </a:prstGeom>
          <a:solidFill>
            <a:schemeClr val="tx2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8" name="Tile Environments circle"/>
          <p:cNvSpPr/>
          <p:nvPr/>
        </p:nvSpPr>
        <p:spPr>
          <a:xfrm>
            <a:off x="3310128" y="109728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9" name="Tile Environments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6140" y="1193292"/>
            <a:ext cx="192024" cy="192024"/>
          </a:xfrm>
          <a:prstGeom prst="rect">
            <a:avLst/>
          </a:prstGeom>
        </p:spPr>
      </p:pic>
      <p:sp>
        <p:nvSpPr>
          <p:cNvPr id="10" name="Tile text Environments"/>
          <p:cNvSpPr txBox="1"/>
          <p:nvPr/>
        </p:nvSpPr>
        <p:spPr>
          <a:xfrm>
            <a:off x="3794760" y="969264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Environments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dev / test / prod, a catalog each</a:t>
            </a:r>
            <a:endParaRPr lang="en-US" sz="1200" dirty="0"/>
          </a:p>
        </p:txBody>
      </p:sp>
      <p:sp>
        <p:nvSpPr>
          <p:cNvPr id="11" name="Tile Deployment"/>
          <p:cNvSpPr/>
          <p:nvPr/>
        </p:nvSpPr>
        <p:spPr>
          <a:xfrm>
            <a:off x="457200" y="1801368"/>
            <a:ext cx="2606040" cy="749808"/>
          </a:xfrm>
          <a:prstGeom prst="roundRect">
            <a:avLst>
              <a:gd name="adj" fmla="val 9756"/>
            </a:avLst>
          </a:prstGeom>
          <a:solidFill>
            <a:schemeClr val="tx2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12" name="Tile Deployment circle"/>
          <p:cNvSpPr/>
          <p:nvPr/>
        </p:nvSpPr>
        <p:spPr>
          <a:xfrm>
            <a:off x="566928" y="1984248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Tile Deployment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" y="2080260"/>
            <a:ext cx="192024" cy="192024"/>
          </a:xfrm>
          <a:prstGeom prst="rect">
            <a:avLst/>
          </a:prstGeom>
        </p:spPr>
      </p:pic>
      <p:sp>
        <p:nvSpPr>
          <p:cNvPr id="14" name="Tile text Deployment"/>
          <p:cNvSpPr txBox="1"/>
          <p:nvPr/>
        </p:nvSpPr>
        <p:spPr>
          <a:xfrm>
            <a:off x="1051560" y="1856232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Deployment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Asset Bundle; CI runs pytest + validate</a:t>
            </a:r>
            <a:endParaRPr lang="en-US" sz="1200" dirty="0"/>
          </a:p>
        </p:txBody>
      </p:sp>
      <p:sp>
        <p:nvSpPr>
          <p:cNvPr id="15" name="Tile Governance"/>
          <p:cNvSpPr/>
          <p:nvPr/>
        </p:nvSpPr>
        <p:spPr>
          <a:xfrm>
            <a:off x="3200400" y="1801368"/>
            <a:ext cx="2606040" cy="749808"/>
          </a:xfrm>
          <a:prstGeom prst="roundRect">
            <a:avLst>
              <a:gd name="adj" fmla="val 9756"/>
            </a:avLst>
          </a:prstGeom>
          <a:solidFill>
            <a:schemeClr val="tx2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16" name="Tile Governance circle"/>
          <p:cNvSpPr/>
          <p:nvPr/>
        </p:nvSpPr>
        <p:spPr>
          <a:xfrm>
            <a:off x="3310128" y="1984248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7" name="Tile Governance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6140" y="2080260"/>
            <a:ext cx="192024" cy="192024"/>
          </a:xfrm>
          <a:prstGeom prst="rect">
            <a:avLst/>
          </a:prstGeom>
        </p:spPr>
      </p:pic>
      <p:sp>
        <p:nvSpPr>
          <p:cNvPr id="18" name="Tile text Governance"/>
          <p:cNvSpPr txBox="1"/>
          <p:nvPr/>
        </p:nvSpPr>
        <p:spPr>
          <a:xfrm>
            <a:off x="3794760" y="1856232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Governance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UC grants, tags, lineage, secret scope</a:t>
            </a:r>
            <a:endParaRPr lang="en-US" sz="1200" dirty="0"/>
          </a:p>
        </p:txBody>
      </p:sp>
      <p:sp>
        <p:nvSpPr>
          <p:cNvPr id="19" name="Tile Alerting"/>
          <p:cNvSpPr/>
          <p:nvPr/>
        </p:nvSpPr>
        <p:spPr>
          <a:xfrm>
            <a:off x="457200" y="2688336"/>
            <a:ext cx="2606040" cy="749808"/>
          </a:xfrm>
          <a:prstGeom prst="roundRect">
            <a:avLst>
              <a:gd name="adj" fmla="val 9756"/>
            </a:avLst>
          </a:prstGeom>
          <a:solidFill>
            <a:schemeClr val="tx2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20" name="Tile Alerting circle"/>
          <p:cNvSpPr/>
          <p:nvPr/>
        </p:nvSpPr>
        <p:spPr>
          <a:xfrm>
            <a:off x="566928" y="2871216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1" name="Tile Alerting 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940" y="2967228"/>
            <a:ext cx="192024" cy="192024"/>
          </a:xfrm>
          <a:prstGeom prst="rect">
            <a:avLst/>
          </a:prstGeom>
        </p:spPr>
      </p:pic>
      <p:sp>
        <p:nvSpPr>
          <p:cNvPr id="22" name="Tile text Alerting"/>
          <p:cNvSpPr txBox="1"/>
          <p:nvPr/>
        </p:nvSpPr>
        <p:spPr>
          <a:xfrm>
            <a:off x="1051560" y="274320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Alerting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SQL alerts: failures, SLA, staleness, rejects</a:t>
            </a:r>
            <a:endParaRPr lang="en-US" sz="1200" dirty="0"/>
          </a:p>
        </p:txBody>
      </p:sp>
      <p:sp>
        <p:nvSpPr>
          <p:cNvPr id="23" name="Tile Scaling"/>
          <p:cNvSpPr/>
          <p:nvPr/>
        </p:nvSpPr>
        <p:spPr>
          <a:xfrm>
            <a:off x="3200400" y="2688336"/>
            <a:ext cx="2606040" cy="749808"/>
          </a:xfrm>
          <a:prstGeom prst="roundRect">
            <a:avLst>
              <a:gd name="adj" fmla="val 9756"/>
            </a:avLst>
          </a:prstGeom>
          <a:solidFill>
            <a:schemeClr val="tx2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24" name="Tile Scaling circle"/>
          <p:cNvSpPr/>
          <p:nvPr/>
        </p:nvSpPr>
        <p:spPr>
          <a:xfrm>
            <a:off x="3310128" y="2871216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5" name="Tile Scaling 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06140" y="2967228"/>
            <a:ext cx="192024" cy="192024"/>
          </a:xfrm>
          <a:prstGeom prst="rect">
            <a:avLst/>
          </a:prstGeom>
        </p:spPr>
      </p:pic>
      <p:sp>
        <p:nvSpPr>
          <p:cNvPr id="26" name="Tile text Scaling"/>
          <p:cNvSpPr txBox="1"/>
          <p:nvPr/>
        </p:nvSpPr>
        <p:spPr>
          <a:xfrm>
            <a:off x="3794760" y="274320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Scaling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Rate limits, staging table, Auto Loader</a:t>
            </a:r>
            <a:endParaRPr lang="en-US" sz="1200" dirty="0"/>
          </a:p>
        </p:txBody>
      </p:sp>
      <p:sp>
        <p:nvSpPr>
          <p:cNvPr id="27" name="Tile Testing"/>
          <p:cNvSpPr/>
          <p:nvPr/>
        </p:nvSpPr>
        <p:spPr>
          <a:xfrm>
            <a:off x="457200" y="3575304"/>
            <a:ext cx="2606040" cy="749808"/>
          </a:xfrm>
          <a:prstGeom prst="roundRect">
            <a:avLst>
              <a:gd name="adj" fmla="val 9756"/>
            </a:avLst>
          </a:prstGeom>
          <a:solidFill>
            <a:schemeClr val="tx2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28" name="Tile Testing circle"/>
          <p:cNvSpPr/>
          <p:nvPr/>
        </p:nvSpPr>
        <p:spPr>
          <a:xfrm>
            <a:off x="566928" y="3758184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9" name="Tile Testing icon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2940" y="3854196"/>
            <a:ext cx="192024" cy="192024"/>
          </a:xfrm>
          <a:prstGeom prst="rect">
            <a:avLst/>
          </a:prstGeom>
        </p:spPr>
      </p:pic>
      <p:sp>
        <p:nvSpPr>
          <p:cNvPr id="30" name="Tile text Testing"/>
          <p:cNvSpPr txBox="1"/>
          <p:nvPr/>
        </p:nvSpPr>
        <p:spPr>
          <a:xfrm>
            <a:off x="1051560" y="3630168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Testing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Unit, onboarding contracts, smoke, in-job</a:t>
            </a:r>
            <a:endParaRPr lang="en-US" sz="1200" dirty="0"/>
          </a:p>
        </p:txBody>
      </p:sp>
      <p:sp>
        <p:nvSpPr>
          <p:cNvPr id="31" name="Tile Extensibility"/>
          <p:cNvSpPr/>
          <p:nvPr/>
        </p:nvSpPr>
        <p:spPr>
          <a:xfrm>
            <a:off x="3200400" y="3575304"/>
            <a:ext cx="2606040" cy="749808"/>
          </a:xfrm>
          <a:prstGeom prst="roundRect">
            <a:avLst>
              <a:gd name="adj" fmla="val 9756"/>
            </a:avLst>
          </a:prstGeom>
          <a:solidFill>
            <a:schemeClr val="tx2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32" name="Tile Extensibility circle"/>
          <p:cNvSpPr/>
          <p:nvPr/>
        </p:nvSpPr>
        <p:spPr>
          <a:xfrm>
            <a:off x="3310128" y="3758184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3" name="Tile Extensibility icon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06140" y="3854196"/>
            <a:ext cx="192024" cy="192024"/>
          </a:xfrm>
          <a:prstGeom prst="rect">
            <a:avLst/>
          </a:prstGeom>
        </p:spPr>
      </p:pic>
      <p:sp>
        <p:nvSpPr>
          <p:cNvPr id="34" name="Tile text Extensibility"/>
          <p:cNvSpPr txBox="1"/>
          <p:nvPr/>
        </p:nvSpPr>
        <p:spPr>
          <a:xfrm>
            <a:off x="3794760" y="3630168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Extensibility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New API = YAML + samples + gold SQL</a:t>
            </a:r>
            <a:endParaRPr lang="en-US" sz="1200" dirty="0"/>
          </a:p>
        </p:txBody>
      </p:sp>
      <p:sp>
        <p:nvSpPr>
          <p:cNvPr id="35" name="AI card"/>
          <p:cNvSpPr/>
          <p:nvPr/>
        </p:nvSpPr>
        <p:spPr>
          <a:xfrm>
            <a:off x="5943600" y="914400"/>
            <a:ext cx="2743200" cy="3410712"/>
          </a:xfrm>
          <a:prstGeom prst="roundRect">
            <a:avLst>
              <a:gd name="adj" fmla="val 2667"/>
            </a:avLst>
          </a:prstGeom>
          <a:solidFill>
            <a:schemeClr val="accent2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36" name="AI circle"/>
          <p:cNvSpPr/>
          <p:nvPr/>
        </p:nvSpPr>
        <p:spPr>
          <a:xfrm>
            <a:off x="6080760" y="1033272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7" name="AI icon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76772" y="1129284"/>
            <a:ext cx="192024" cy="192024"/>
          </a:xfrm>
          <a:prstGeom prst="rect">
            <a:avLst/>
          </a:prstGeom>
        </p:spPr>
      </p:pic>
      <p:sp>
        <p:nvSpPr>
          <p:cNvPr id="38" name="Text 27"/>
          <p:cNvSpPr txBox="1"/>
          <p:nvPr/>
        </p:nvSpPr>
        <p:spPr>
          <a:xfrm>
            <a:off x="6556248" y="1033272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How I used AI</a:t>
            </a:r>
            <a:endParaRPr lang="en-US" sz="1400" dirty="0"/>
          </a:p>
        </p:txBody>
      </p:sp>
      <p:sp>
        <p:nvSpPr>
          <p:cNvPr id="39" name="AI text"/>
          <p:cNvSpPr txBox="1"/>
          <p:nvPr/>
        </p:nvSpPr>
        <p:spPr>
          <a:xfrm>
            <a:off x="6080760" y="1508760"/>
            <a:ext cx="24688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chemeClr val="bg1"/>
                </a:solidFill>
              </a:rPr>
              <a:t>Claude Code in VS Code for plan, code, tests, docs, dashboards. I reviewed, ran and own all of it.</a:t>
            </a:r>
            <a:endParaRPr lang="en-US" sz="11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b="1" dirty="0">
                <a:solidFill>
                  <a:schemeClr val="accent1"/>
                </a:solidFill>
              </a:rPr>
              <a:t>Caught and fixed: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chemeClr val="bg1"/>
                </a:solidFill>
              </a:rPr>
              <a:t>Fault injector hit the wrong city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chemeClr val="bg1"/>
                </a:solidFill>
              </a:rPr>
              <a:t>YAML ints sent into DOUBLE columns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chemeClr val="bg1"/>
                </a:solidFill>
              </a:rPr>
              <a:t>Dashboards failed to render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chemeClr val="bg1"/>
                </a:solidFill>
              </a:rPr>
              <a:t>Gold missing created_run_id</a:t>
            </a:r>
            <a:endParaRPr lang="en-US" sz="11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i="1" dirty="0">
                <a:solidFill>
                  <a:schemeClr val="accent1"/>
                </a:solidFill>
              </a:rPr>
              <a:t>Every real defect became a permanent automated check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eather Pipeline Dark">
  <a:themeElements>
    <a:clrScheme name="Weather Pipeline Dark">
      <a:dk1>
        <a:srgbClr val="0E1726"/>
      </a:dk1>
      <a:lt1>
        <a:srgbClr val="F3F4F6"/>
      </a:lt1>
      <a:dk2>
        <a:srgbClr val="1B2638"/>
      </a:dk2>
      <a:lt2>
        <a:srgbClr val="94A3B8"/>
      </a:lt2>
      <a:accent1>
        <a:srgbClr val="F5A524"/>
      </a:accent1>
      <a:accent2>
        <a:srgbClr val="2A3A55"/>
      </a:accent2>
      <a:accent3>
        <a:srgbClr val="64748B"/>
      </a:accent3>
      <a:accent4>
        <a:srgbClr val="CBD5E1"/>
      </a:accent4>
      <a:accent5>
        <a:srgbClr val="475569"/>
      </a:accent5>
      <a:accent6>
        <a:srgbClr val="E2E8F0"/>
      </a:accent6>
      <a:hlink>
        <a:srgbClr val="F5A524"/>
      </a:hlink>
      <a:folHlink>
        <a:srgbClr val="CBD5E1"/>
      </a:folHlink>
    </a:clrScheme>
    <a:fontScheme name="Weather Pipeline Dark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Config-driven API ingestion on Databricks</dc:title>
  <dc:subject>PptxGenJS Presentation</dc:subject>
  <dc:creator>PptxGenJS</dc:creator>
  <cp:lastModifiedBy>PptxGenJS</cp:lastModifiedBy>
  <cp:revision>1</cp:revision>
  <dcterms:created xsi:type="dcterms:W3CDTF">2026-10-11T08:05:20Z</dcterms:created>
  <dcterms:modified xsi:type="dcterms:W3CDTF">2026-10-11T08:05:20Z</dcterms:modified>
</cp:coreProperties>
</file>